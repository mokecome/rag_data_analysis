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1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67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4C5AD-1487-42AA-98FA-4380676866BC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24CD7-3324-4D78-BA31-73F80C1769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9036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BC9DA3-060D-D900-B49F-CA4141222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5BA1E40-99EE-4B50-1BD4-88EB95721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B1EBB3-B8B7-7A74-E1A5-C937B1683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F9F2-1B36-4D3F-9A10-6298E3015F02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F40A4B-AC1F-2CEB-8EBB-FC1AD4283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2FCD2D-9F17-2A9C-718C-53A142CE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9E9-A4CC-4AF0-A093-278928076D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7544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621B6B-BF50-1C6A-837C-834E357F5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EFBB11-1672-6B4C-6441-7E756998C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96E7C0-FD00-9ACC-39D6-565C0D56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F9F2-1B36-4D3F-9A10-6298E3015F02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A8D33C-8ED2-FBCF-3AF3-20C383BE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FD89B9-F621-7F14-7AE7-C1431D23C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9E9-A4CC-4AF0-A093-278928076D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5123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1945C-948B-D9F4-0A72-15BC61E63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E459BE-449D-E8F6-37D6-4DE562D61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4AC18E-A200-0084-C5E1-CE506A417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F9F2-1B36-4D3F-9A10-6298E3015F02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A5A2A9-DD81-CC27-1C6C-AA11202F4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709EC1-E1E0-4AB6-6C22-9C33903D0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9E9-A4CC-4AF0-A093-278928076D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4026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2EEF37-B967-F999-1E8E-07F09C72F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A1830B-7D1C-DB85-1DCA-3D9F05D7A7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5E69C9A-426A-98EC-8247-0A1B73B92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46209B3-511E-215B-5EC0-7649BB57C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F9F2-1B36-4D3F-9A10-6298E3015F02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B938948-BA71-86C7-D1B4-F74D7C68E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12A3913-0E92-6B12-942D-4DC786A60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9E9-A4CC-4AF0-A093-278928076D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2652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E4A5CE-D8FA-78DA-78C2-B953D0AE3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E2D8A12-FEDE-0BE9-DF34-9E5260F35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BD785AE-405A-2438-0B75-DD3665CEE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FDF4844-EC5F-FE13-7B6B-5016D9AA4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785A6F3-F2E9-8F19-9A80-6D0A87825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0C03B95-D40B-28FE-90DB-55D450AB2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F9F2-1B36-4D3F-9A10-6298E3015F02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23E8308-BB75-9ACC-4244-65B5F8AC3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610A7D5-A543-147B-6DAD-0924CD55A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9E9-A4CC-4AF0-A093-278928076D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4622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D306AB-3A6D-A0D1-0388-BFB490C68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1B679E5-1FEF-1E4F-C6EE-A8E8437CA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F9F2-1B36-4D3F-9A10-6298E3015F02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27A60F7-B3A7-79C6-E2D0-8EBDB765C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DAD76C-710C-D533-619A-3607A222D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9E9-A4CC-4AF0-A093-278928076D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0042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C2D7E9F-FB3A-2C41-678A-BA02E228D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F9F2-1B36-4D3F-9A10-6298E3015F02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63CC043-3F6E-9958-9E7A-F1B1E37C7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3F50A8-FED9-F82B-9923-A9C0924DA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9E9-A4CC-4AF0-A093-278928076D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4763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F68AA2-5F14-9C41-80D6-2AD201431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9AD6A9-50BE-4D65-ABE7-6309E3233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A5A07C-D631-B601-0098-64FD622AC4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971C4D6-87CC-6651-B97B-2C495B290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F9F2-1B36-4D3F-9A10-6298E3015F02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29A6721-6303-CEAC-C8C9-422480975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8BC61B5-6EAC-FB0C-590D-1A716301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9E9-A4CC-4AF0-A093-278928076D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214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8D328C-CF19-FDD8-8301-236117B1F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1FC5539-1BB6-F978-47BE-36B71DBC02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633EC4-A45A-8F0D-6A16-59EB4FEC5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A7FC2F-DFBC-DCE4-64EC-CE10C69CB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F9F2-1B36-4D3F-9A10-6298E3015F02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8AEA52B-6B75-E12B-5BD7-20290CB7E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79BBE5F-6DE7-6B85-271D-CE968C05F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9E9-A4CC-4AF0-A093-278928076D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328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3D98F9-75B5-55CD-8213-1C6421FF8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C2BFB7A-BC27-C153-79E2-DF805DF22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40D1A9-F7EB-9C29-00CA-E440A4E1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F9F2-1B36-4D3F-9A10-6298E3015F02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FFDE2A-57B6-E030-AA7A-73514FEA0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BF50F41-047A-7346-BDA3-8FB75133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9E9-A4CC-4AF0-A093-278928076D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4869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37B7698-2AA7-EA97-506C-5349B4085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E4FCADA-0511-38CB-3747-2F9B402A0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7F3A17D-E6A1-4C10-E133-B396145A3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F9F2-1B36-4D3F-9A10-6298E3015F02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A6763E-1768-0543-B6B5-700B50B0D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77783E-1594-5147-C487-41C03C7AE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9E9-A4CC-4AF0-A093-278928076D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202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9954007-C1F6-29ED-53EC-6314FF4AF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EF291B-965D-9D40-98BC-D440B9244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A6635D-F3F4-1AA3-95D4-102244DE0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CF9F2-1B36-4D3F-9A10-6298E3015F02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809D66-C745-E20C-B0FC-9079FCEDA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69D238-982C-8A37-F5CF-6A1EBFFA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9249E9-A4CC-4AF0-A093-278928076D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6151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D97011B-B5E4-0C9B-1CD2-CACFAEE1A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362456"/>
              </p:ext>
            </p:extLst>
          </p:nvPr>
        </p:nvGraphicFramePr>
        <p:xfrm>
          <a:off x="308757" y="3962400"/>
          <a:ext cx="10986655" cy="197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617">
                  <a:extLst>
                    <a:ext uri="{9D8B030D-6E8A-4147-A177-3AD203B41FA5}">
                      <a16:colId xmlns:a16="http://schemas.microsoft.com/office/drawing/2014/main" val="2449043318"/>
                    </a:ext>
                  </a:extLst>
                </a:gridCol>
                <a:gridCol w="3858237">
                  <a:extLst>
                    <a:ext uri="{9D8B030D-6E8A-4147-A177-3AD203B41FA5}">
                      <a16:colId xmlns:a16="http://schemas.microsoft.com/office/drawing/2014/main" val="2002794407"/>
                    </a:ext>
                  </a:extLst>
                </a:gridCol>
                <a:gridCol w="4369801">
                  <a:extLst>
                    <a:ext uri="{9D8B030D-6E8A-4147-A177-3AD203B41FA5}">
                      <a16:colId xmlns:a16="http://schemas.microsoft.com/office/drawing/2014/main" val="3600142410"/>
                    </a:ext>
                  </a:extLst>
                </a:gridCol>
              </a:tblGrid>
              <a:tr h="657706"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解決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933810"/>
                  </a:ext>
                </a:extLst>
              </a:tr>
              <a:tr h="657706"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數據資料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大量抓取會有</a:t>
                      </a:r>
                      <a:r>
                        <a:rPr lang="en-US" altLang="zh-TW" sz="2400" dirty="0"/>
                        <a:t>IP</a:t>
                      </a:r>
                      <a:r>
                        <a:rPr lang="zh-TW" altLang="en-US" sz="2400" dirty="0"/>
                        <a:t>代理問題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只取京東雀巢咖啡</a:t>
                      </a:r>
                      <a:r>
                        <a:rPr lang="en-US" altLang="zh-TW" sz="2400" dirty="0"/>
                        <a:t>50</a:t>
                      </a:r>
                      <a:r>
                        <a:rPr lang="zh-TW" altLang="en-US" sz="2400" dirty="0"/>
                        <a:t>頁的評論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858273"/>
                  </a:ext>
                </a:extLst>
              </a:tr>
              <a:tr h="657706"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數據檢索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數據分析重視依據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設計</a:t>
                      </a:r>
                      <a:r>
                        <a:rPr lang="en-US" altLang="zh-TW" sz="2400" dirty="0"/>
                        <a:t>RAG</a:t>
                      </a:r>
                      <a:r>
                        <a:rPr lang="zh-TW" altLang="en-US" sz="2400" dirty="0"/>
                        <a:t>流程提升準確度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00536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BE72E6A6-1745-8861-8416-598D9C808FDA}"/>
              </a:ext>
            </a:extLst>
          </p:cNvPr>
          <p:cNvSpPr txBox="1"/>
          <p:nvPr/>
        </p:nvSpPr>
        <p:spPr>
          <a:xfrm>
            <a:off x="202077" y="326057"/>
            <a:ext cx="100003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#</a:t>
            </a:r>
            <a:r>
              <a:rPr lang="zh-TW" altLang="en-US" sz="2400" dirty="0"/>
              <a:t>下載專案</a:t>
            </a:r>
            <a:endParaRPr lang="en-US" altLang="zh-TW" sz="2400" dirty="0"/>
          </a:p>
          <a:p>
            <a:r>
              <a:rPr lang="en-US" altLang="zh-TW" sz="2400" dirty="0"/>
              <a:t>git clone  https://github.com/mokecome/RAG_Data_Analysis</a:t>
            </a:r>
          </a:p>
          <a:p>
            <a:r>
              <a:rPr lang="en-US" altLang="zh-TW" sz="2400" dirty="0"/>
              <a:t>cd   </a:t>
            </a:r>
            <a:r>
              <a:rPr lang="en-US" altLang="zh-TW" sz="2400" dirty="0" err="1"/>
              <a:t>MRAgent</a:t>
            </a:r>
            <a:r>
              <a:rPr lang="en-US" altLang="zh-TW" sz="2400" dirty="0"/>
              <a:t> </a:t>
            </a:r>
          </a:p>
          <a:p>
            <a:r>
              <a:rPr lang="en-US" altLang="zh-TW" sz="2400" dirty="0"/>
              <a:t>pip install –r  requirements.txt</a:t>
            </a:r>
          </a:p>
          <a:p>
            <a:r>
              <a:rPr lang="en-US" altLang="zh-TW" sz="2400" dirty="0"/>
              <a:t>#</a:t>
            </a:r>
            <a:r>
              <a:rPr lang="zh-TW" altLang="en-US" sz="2400" dirty="0"/>
              <a:t>運行服務端</a:t>
            </a:r>
            <a:endParaRPr lang="en-US" altLang="zh-TW" sz="2400" dirty="0"/>
          </a:p>
          <a:p>
            <a:r>
              <a:rPr lang="en-US" altLang="zh-TW" sz="2400" dirty="0"/>
              <a:t>python    app/server.py</a:t>
            </a:r>
          </a:p>
          <a:p>
            <a:r>
              <a:rPr lang="en-US" altLang="zh-TW" sz="2400" dirty="0"/>
              <a:t>#</a:t>
            </a:r>
            <a:r>
              <a:rPr lang="zh-TW" altLang="en-US" sz="2400" dirty="0"/>
              <a:t>運行客戶端</a:t>
            </a:r>
            <a:endParaRPr lang="en-US" altLang="zh-TW" sz="2400" dirty="0"/>
          </a:p>
          <a:p>
            <a:r>
              <a:rPr lang="en-US" altLang="zh-TW" sz="2400" dirty="0" err="1"/>
              <a:t>streamlit</a:t>
            </a:r>
            <a:r>
              <a:rPr lang="en-US" altLang="zh-TW" sz="2400" dirty="0"/>
              <a:t>  run app/client.py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52158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內容版面配置區 12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43E08954-F4BC-BCBC-2A39-B05209C2D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58995"/>
            <a:ext cx="5598159" cy="5040914"/>
          </a:xfrm>
        </p:spPr>
      </p:pic>
      <p:pic>
        <p:nvPicPr>
          <p:cNvPr id="17" name="圖片 16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7E34A774-C235-8A1B-A912-EA66A7D0A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319" y="1394165"/>
            <a:ext cx="5984241" cy="4546290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8D9F8A3E-A5A7-4F10-8837-871AE641B0F2}"/>
              </a:ext>
            </a:extLst>
          </p:cNvPr>
          <p:cNvSpPr txBox="1"/>
          <p:nvPr/>
        </p:nvSpPr>
        <p:spPr>
          <a:xfrm>
            <a:off x="6593842" y="835829"/>
            <a:ext cx="4255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GEMIN</a:t>
            </a:r>
            <a:r>
              <a:rPr lang="zh-TW" altLang="en-US" dirty="0"/>
              <a:t> </a:t>
            </a:r>
            <a:r>
              <a:rPr lang="en-US" altLang="zh-TW" dirty="0"/>
              <a:t>I: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gemini-1.5-flash-latest</a:t>
            </a: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C7696E8-2EE4-3820-5961-CC14403B59A3}"/>
              </a:ext>
            </a:extLst>
          </p:cNvPr>
          <p:cNvSpPr txBox="1"/>
          <p:nvPr/>
        </p:nvSpPr>
        <p:spPr>
          <a:xfrm>
            <a:off x="1149389" y="789662"/>
            <a:ext cx="3810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OPENAI:</a:t>
            </a:r>
            <a:r>
              <a:rPr lang="en-US" altLang="zh-TW" dirty="0">
                <a:solidFill>
                  <a:schemeClr val="accent2"/>
                </a:solidFill>
              </a:rPr>
              <a:t>gpt-4o</a:t>
            </a:r>
            <a:endParaRPr lang="zh-TW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336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 descr="一張含有 圖表, 文字, 工程製圖, 方案 的圖片">
            <a:extLst>
              <a:ext uri="{FF2B5EF4-FFF2-40B4-BE49-F238E27FC236}">
                <a16:creationId xmlns:a16="http://schemas.microsoft.com/office/drawing/2014/main" id="{FCD1807F-57A7-9AA6-0EF4-7979CBFE70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" y="264115"/>
            <a:ext cx="11155680" cy="6329769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D879E1D-5548-74A9-43B8-0AFD0404237D}"/>
              </a:ext>
            </a:extLst>
          </p:cNvPr>
          <p:cNvSpPr txBox="1"/>
          <p:nvPr/>
        </p:nvSpPr>
        <p:spPr>
          <a:xfrm>
            <a:off x="1051560" y="792480"/>
            <a:ext cx="193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業務流程</a:t>
            </a:r>
          </a:p>
        </p:txBody>
      </p:sp>
    </p:spTree>
    <p:extLst>
      <p:ext uri="{BB962C8B-B14F-4D97-AF65-F5344CB8AC3E}">
        <p14:creationId xmlns:p14="http://schemas.microsoft.com/office/powerpoint/2010/main" val="40231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0F0746E9-F75A-8968-8E03-46B704F707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64" y="720923"/>
            <a:ext cx="11155680" cy="6624757"/>
          </a:xfr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7F834537-91CF-5C17-6A29-9782A26BA26A}"/>
              </a:ext>
            </a:extLst>
          </p:cNvPr>
          <p:cNvSpPr txBox="1"/>
          <p:nvPr/>
        </p:nvSpPr>
        <p:spPr>
          <a:xfrm>
            <a:off x="194664" y="41433"/>
            <a:ext cx="11783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TW" sz="1800" b="1" i="0" dirty="0">
                <a:solidFill>
                  <a:srgbClr val="1F2328"/>
                </a:solidFill>
                <a:effectLst/>
                <a:latin typeface="-apple-system"/>
              </a:rPr>
              <a:t>AI</a:t>
            </a:r>
            <a:r>
              <a:rPr lang="zh-TW" altLang="en-US" sz="1800" b="1" i="0" dirty="0">
                <a:solidFill>
                  <a:srgbClr val="1F2328"/>
                </a:solidFill>
                <a:effectLst/>
                <a:latin typeface="-apple-system"/>
              </a:rPr>
              <a:t>代理框架</a:t>
            </a:r>
            <a:r>
              <a:rPr lang="zh-TW" altLang="en-US" sz="1800" b="0" i="0" dirty="0">
                <a:solidFill>
                  <a:srgbClr val="1F2328"/>
                </a:solidFill>
                <a:effectLst/>
                <a:latin typeface="-apple-system"/>
              </a:rPr>
              <a:t>：</a:t>
            </a:r>
            <a:r>
              <a:rPr lang="en-US" altLang="zh-TW" sz="1800" b="0" i="0" dirty="0" err="1">
                <a:solidFill>
                  <a:srgbClr val="1F2328"/>
                </a:solidFill>
                <a:effectLst/>
                <a:latin typeface="-apple-system"/>
              </a:rPr>
              <a:t>LangGraph</a:t>
            </a:r>
            <a:r>
              <a:rPr lang="en-US" altLang="zh-TW" sz="1800" dirty="0">
                <a:solidFill>
                  <a:srgbClr val="1F2328"/>
                </a:solidFill>
                <a:latin typeface="-apple-system"/>
              </a:rPr>
              <a:t>   </a:t>
            </a:r>
            <a:r>
              <a:rPr lang="zh-TW" altLang="en-US" sz="1800" b="1" i="0" dirty="0">
                <a:solidFill>
                  <a:srgbClr val="1F2328"/>
                </a:solidFill>
                <a:effectLst/>
                <a:latin typeface="-apple-system"/>
              </a:rPr>
              <a:t>模型呼叫</a:t>
            </a:r>
            <a:r>
              <a:rPr lang="zh-TW" altLang="en-US" sz="1800" b="0" i="0" dirty="0">
                <a:solidFill>
                  <a:srgbClr val="1F2328"/>
                </a:solidFill>
                <a:effectLst/>
                <a:latin typeface="-apple-system"/>
              </a:rPr>
              <a:t>：</a:t>
            </a:r>
            <a:r>
              <a:rPr lang="en-US" altLang="zh-TW" sz="1800" b="0" i="0" dirty="0">
                <a:solidFill>
                  <a:srgbClr val="1F2328"/>
                </a:solidFill>
                <a:effectLst/>
                <a:latin typeface="-apple-system"/>
              </a:rPr>
              <a:t>gemini-1.5-flash-latest</a:t>
            </a:r>
            <a:r>
              <a:rPr lang="zh-TW" altLang="en-US" sz="1800" b="0" i="0" dirty="0">
                <a:solidFill>
                  <a:srgbClr val="1F2328"/>
                </a:solidFill>
                <a:effectLst/>
                <a:latin typeface="-apple-system"/>
              </a:rPr>
              <a:t>    </a:t>
            </a:r>
            <a:r>
              <a:rPr lang="zh-TW" altLang="en-US" sz="1800" b="1" i="0" dirty="0">
                <a:solidFill>
                  <a:srgbClr val="1F2328"/>
                </a:solidFill>
                <a:effectLst/>
                <a:latin typeface="-apple-system"/>
              </a:rPr>
              <a:t>嵌入模型</a:t>
            </a:r>
            <a:r>
              <a:rPr lang="zh-TW" altLang="en-US" sz="1800" b="0" i="0" dirty="0">
                <a:solidFill>
                  <a:srgbClr val="1F2328"/>
                </a:solidFill>
                <a:effectLst/>
                <a:latin typeface="-apple-system"/>
              </a:rPr>
              <a:t>：</a:t>
            </a:r>
            <a:r>
              <a:rPr lang="en-US" altLang="zh-TW" sz="1800" b="0" i="0" dirty="0" err="1">
                <a:solidFill>
                  <a:srgbClr val="1F2328"/>
                </a:solidFill>
                <a:effectLst/>
                <a:latin typeface="-apple-system"/>
              </a:rPr>
              <a:t>GoogleGenerativeAIEmbeddings</a:t>
            </a:r>
            <a:endParaRPr lang="zh-TW" altLang="en-US" sz="18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sz="1800" b="1" i="0" dirty="0">
                <a:solidFill>
                  <a:srgbClr val="1F2328"/>
                </a:solidFill>
                <a:effectLst/>
                <a:latin typeface="-apple-system"/>
              </a:rPr>
              <a:t>前端技術</a:t>
            </a:r>
            <a:r>
              <a:rPr lang="zh-TW" altLang="en-US" sz="1800" b="0" i="0" dirty="0">
                <a:solidFill>
                  <a:srgbClr val="1F2328"/>
                </a:solidFill>
                <a:effectLst/>
                <a:latin typeface="-apple-system"/>
              </a:rPr>
              <a:t>：</a:t>
            </a:r>
            <a:r>
              <a:rPr lang="en-US" altLang="zh-TW" sz="1800" b="0" i="0" dirty="0" err="1">
                <a:solidFill>
                  <a:srgbClr val="1F2328"/>
                </a:solidFill>
                <a:effectLst/>
                <a:latin typeface="-apple-system"/>
              </a:rPr>
              <a:t>Streamlit</a:t>
            </a:r>
            <a:r>
              <a:rPr lang="en-US" altLang="zh-TW" sz="1800" dirty="0">
                <a:solidFill>
                  <a:srgbClr val="1F2328"/>
                </a:solidFill>
                <a:latin typeface="-apple-system"/>
              </a:rPr>
              <a:t>         </a:t>
            </a:r>
            <a:r>
              <a:rPr lang="zh-TW" altLang="en-US" sz="1800" dirty="0">
                <a:solidFill>
                  <a:srgbClr val="1F2328"/>
                </a:solidFill>
                <a:latin typeface="-apple-system"/>
              </a:rPr>
              <a:t> </a:t>
            </a:r>
            <a:r>
              <a:rPr lang="zh-TW" altLang="en-US" sz="1800" b="1" dirty="0">
                <a:solidFill>
                  <a:srgbClr val="1F2328"/>
                </a:solidFill>
                <a:latin typeface="-apple-system"/>
              </a:rPr>
              <a:t>後端</a:t>
            </a:r>
            <a:r>
              <a:rPr lang="zh-TW" altLang="en-US" sz="1800" b="1" i="0" dirty="0">
                <a:solidFill>
                  <a:srgbClr val="1F2328"/>
                </a:solidFill>
                <a:effectLst/>
                <a:latin typeface="-apple-system"/>
              </a:rPr>
              <a:t>技術</a:t>
            </a:r>
            <a:r>
              <a:rPr lang="zh-TW" altLang="en-US" sz="1800" b="0" i="0" dirty="0">
                <a:solidFill>
                  <a:srgbClr val="1F2328"/>
                </a:solidFill>
                <a:effectLst/>
                <a:latin typeface="-apple-system"/>
              </a:rPr>
              <a:t>：</a:t>
            </a:r>
            <a:r>
              <a:rPr lang="en-US" altLang="zh-TW" sz="1800" b="0" i="0" dirty="0" err="1">
                <a:solidFill>
                  <a:srgbClr val="1F2328"/>
                </a:solidFill>
                <a:effectLst/>
                <a:latin typeface="-apple-system"/>
              </a:rPr>
              <a:t>LangServe</a:t>
            </a:r>
            <a:r>
              <a:rPr lang="en-US" altLang="zh-TW" sz="1800" b="0" i="0" dirty="0">
                <a:solidFill>
                  <a:srgbClr val="1F2328"/>
                </a:solidFill>
                <a:effectLst/>
                <a:latin typeface="-apple-system"/>
              </a:rPr>
              <a:t> + </a:t>
            </a:r>
            <a:r>
              <a:rPr lang="en-US" altLang="zh-TW" sz="1800" b="0" i="0" dirty="0" err="1">
                <a:solidFill>
                  <a:srgbClr val="1F2328"/>
                </a:solidFill>
                <a:effectLst/>
                <a:latin typeface="-apple-system"/>
              </a:rPr>
              <a:t>FastAPI</a:t>
            </a:r>
            <a:endParaRPr lang="en-US" altLang="zh-TW" sz="18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49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一張含有 文字, 圖表, 方案, 行 的圖片">
            <a:extLst>
              <a:ext uri="{FF2B5EF4-FFF2-40B4-BE49-F238E27FC236}">
                <a16:creationId xmlns:a16="http://schemas.microsoft.com/office/drawing/2014/main" id="{9449ABDA-48C4-183B-59C0-C97FC9C6D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31" y="449322"/>
            <a:ext cx="8047417" cy="5959356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4D12641-4219-0A32-0BE8-4308AE3E880E}"/>
              </a:ext>
            </a:extLst>
          </p:cNvPr>
          <p:cNvSpPr txBox="1"/>
          <p:nvPr/>
        </p:nvSpPr>
        <p:spPr>
          <a:xfrm>
            <a:off x="6583680" y="2179320"/>
            <a:ext cx="580644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dirty="0">
                <a:solidFill>
                  <a:srgbClr val="FF0000"/>
                </a:solidFill>
              </a:rPr>
              <a:t>設計</a:t>
            </a:r>
            <a:r>
              <a:rPr lang="en-US" altLang="zh-TW" sz="2200" dirty="0">
                <a:solidFill>
                  <a:srgbClr val="FF0000"/>
                </a:solidFill>
              </a:rPr>
              <a:t>RAG</a:t>
            </a:r>
            <a:r>
              <a:rPr lang="zh-TW" altLang="en-US" sz="2200" dirty="0">
                <a:solidFill>
                  <a:srgbClr val="FF0000"/>
                </a:solidFill>
              </a:rPr>
              <a:t>流程提升準確度</a:t>
            </a:r>
            <a:endParaRPr lang="en-US" altLang="zh-TW" sz="2200" dirty="0">
              <a:solidFill>
                <a:srgbClr val="FF0000"/>
              </a:solidFill>
            </a:endParaRPr>
          </a:p>
          <a:p>
            <a:r>
              <a:rPr lang="en-US" altLang="zh-TW" sz="2200" dirty="0"/>
              <a:t>1.</a:t>
            </a:r>
            <a:r>
              <a:rPr lang="zh-TW" altLang="en-US" sz="2200" dirty="0"/>
              <a:t>輸入問題</a:t>
            </a:r>
            <a:endParaRPr lang="en-US" altLang="zh-TW" sz="2200" dirty="0"/>
          </a:p>
          <a:p>
            <a:r>
              <a:rPr lang="en-US" altLang="zh-TW" sz="2200" dirty="0"/>
              <a:t>2.</a:t>
            </a:r>
            <a:r>
              <a:rPr lang="zh-TW" altLang="en-US" sz="2200" dirty="0"/>
              <a:t>根據問題</a:t>
            </a:r>
            <a:r>
              <a:rPr lang="en-US" altLang="zh-TW" sz="2200" dirty="0"/>
              <a:t>spider</a:t>
            </a:r>
            <a:r>
              <a:rPr lang="zh-TW" altLang="en-US" sz="2200" dirty="0"/>
              <a:t>爬蟲獲取數據</a:t>
            </a:r>
            <a:endParaRPr lang="en-US" altLang="zh-TW" sz="2200" dirty="0"/>
          </a:p>
          <a:p>
            <a:r>
              <a:rPr lang="en-US" altLang="zh-TW" sz="2200" dirty="0"/>
              <a:t>3.</a:t>
            </a:r>
            <a:r>
              <a:rPr lang="zh-TW" altLang="en-US" sz="2200" dirty="0"/>
              <a:t>根據問題檢索相關評論</a:t>
            </a:r>
            <a:endParaRPr lang="en-US" altLang="zh-TW" sz="2200" dirty="0"/>
          </a:p>
          <a:p>
            <a:r>
              <a:rPr lang="en-US" altLang="zh-TW" sz="2200" dirty="0"/>
              <a:t>4.</a:t>
            </a:r>
            <a:r>
              <a:rPr lang="zh-TW" altLang="en-US" sz="2200" dirty="0"/>
              <a:t>問題是否與上下文相關</a:t>
            </a:r>
            <a:endParaRPr lang="en-US" altLang="zh-TW" sz="2200" dirty="0"/>
          </a:p>
          <a:p>
            <a:r>
              <a:rPr lang="zh-TW" altLang="en-US" sz="2200" dirty="0"/>
              <a:t>      </a:t>
            </a:r>
            <a:r>
              <a:rPr lang="en-US" altLang="zh-TW" sz="2200" dirty="0"/>
              <a:t>-</a:t>
            </a:r>
            <a:r>
              <a:rPr lang="zh-TW" altLang="en-US" sz="2200" dirty="0"/>
              <a:t>不相關</a:t>
            </a:r>
            <a:r>
              <a:rPr lang="en-US" altLang="zh-TW" sz="2200" dirty="0"/>
              <a:t>-&gt;</a:t>
            </a:r>
            <a:r>
              <a:rPr lang="en-US" altLang="zh-TW" sz="2200" dirty="0" err="1"/>
              <a:t>transform_query</a:t>
            </a:r>
            <a:r>
              <a:rPr lang="zh-TW" altLang="en-US" sz="2200" dirty="0"/>
              <a:t>重寫問題</a:t>
            </a:r>
            <a:endParaRPr lang="en-US" altLang="zh-TW" sz="2200" dirty="0"/>
          </a:p>
          <a:p>
            <a:r>
              <a:rPr lang="zh-TW" altLang="en-US" sz="2200" dirty="0"/>
              <a:t>       </a:t>
            </a:r>
            <a:r>
              <a:rPr lang="en-US" altLang="zh-TW" sz="2200" dirty="0"/>
              <a:t>-</a:t>
            </a:r>
            <a:r>
              <a:rPr lang="zh-TW" altLang="en-US" sz="2200" dirty="0"/>
              <a:t>相關</a:t>
            </a:r>
            <a:r>
              <a:rPr lang="en-US" altLang="zh-TW" sz="2200" dirty="0"/>
              <a:t>-&gt;</a:t>
            </a:r>
            <a:r>
              <a:rPr lang="zh-TW" altLang="en-US" sz="2200" dirty="0"/>
              <a:t>產生答案</a:t>
            </a:r>
            <a:r>
              <a:rPr lang="en-US" altLang="zh-TW" sz="2200" dirty="0"/>
              <a:t>5</a:t>
            </a:r>
          </a:p>
          <a:p>
            <a:r>
              <a:rPr lang="en-US" altLang="zh-TW" sz="2200" dirty="0"/>
              <a:t>5.</a:t>
            </a:r>
            <a:r>
              <a:rPr lang="zh-TW" altLang="en-US" sz="2200" dirty="0"/>
              <a:t>答案是否於上下文相關</a:t>
            </a:r>
            <a:endParaRPr lang="en-US" altLang="zh-TW" sz="2200" dirty="0"/>
          </a:p>
          <a:p>
            <a:r>
              <a:rPr lang="zh-TW" altLang="en-US" sz="2200" dirty="0"/>
              <a:t>      </a:t>
            </a:r>
            <a:r>
              <a:rPr lang="en-US" altLang="zh-TW" sz="2200" dirty="0"/>
              <a:t>-</a:t>
            </a:r>
            <a:r>
              <a:rPr lang="zh-TW" altLang="en-US" sz="2200" dirty="0"/>
              <a:t>不相關</a:t>
            </a:r>
            <a:r>
              <a:rPr lang="en-US" altLang="zh-TW" sz="2200" dirty="0"/>
              <a:t>-&gt;</a:t>
            </a:r>
            <a:r>
              <a:rPr lang="zh-TW" altLang="en-US" sz="2200" dirty="0"/>
              <a:t>重新生成</a:t>
            </a:r>
            <a:r>
              <a:rPr lang="en-US" altLang="zh-TW" sz="2200" dirty="0"/>
              <a:t>5(</a:t>
            </a:r>
            <a:r>
              <a:rPr lang="en-US" altLang="zh-TW" sz="2200" dirty="0" err="1"/>
              <a:t>not_supported</a:t>
            </a:r>
            <a:r>
              <a:rPr lang="en-US" altLang="zh-TW" sz="2200" dirty="0"/>
              <a:t>)</a:t>
            </a:r>
          </a:p>
          <a:p>
            <a:r>
              <a:rPr lang="zh-TW" altLang="en-US" sz="2200" dirty="0"/>
              <a:t>      </a:t>
            </a:r>
            <a:r>
              <a:rPr lang="en-US" altLang="zh-TW" sz="2200" dirty="0"/>
              <a:t>-</a:t>
            </a:r>
            <a:r>
              <a:rPr lang="zh-TW" altLang="en-US" sz="2200" dirty="0"/>
              <a:t>相關</a:t>
            </a:r>
            <a:r>
              <a:rPr lang="en-US" altLang="zh-TW" sz="2200" dirty="0"/>
              <a:t>-&gt;</a:t>
            </a:r>
            <a:r>
              <a:rPr lang="zh-TW" altLang="en-US" sz="2200" dirty="0"/>
              <a:t>答案是否對問題有用</a:t>
            </a:r>
            <a:r>
              <a:rPr lang="en-US" altLang="zh-TW" sz="2200" dirty="0"/>
              <a:t>?</a:t>
            </a:r>
          </a:p>
          <a:p>
            <a:r>
              <a:rPr lang="zh-TW" altLang="en-US" sz="2200" dirty="0"/>
              <a:t>                     </a:t>
            </a:r>
            <a:r>
              <a:rPr lang="en-US" altLang="zh-TW" sz="2200" dirty="0"/>
              <a:t>(1)</a:t>
            </a:r>
            <a:r>
              <a:rPr lang="zh-TW" altLang="en-US" sz="2200" dirty="0"/>
              <a:t>無用</a:t>
            </a:r>
            <a:r>
              <a:rPr lang="en-US" altLang="zh-TW" sz="2200" dirty="0"/>
              <a:t>-&gt;</a:t>
            </a:r>
            <a:r>
              <a:rPr lang="en-US" altLang="zh-TW" sz="2200" dirty="0" err="1"/>
              <a:t>transform_query</a:t>
            </a:r>
            <a:r>
              <a:rPr lang="zh-TW" altLang="en-US" sz="2200" dirty="0"/>
              <a:t>重寫問題</a:t>
            </a:r>
            <a:endParaRPr lang="en-US" altLang="zh-TW" sz="2200" dirty="0"/>
          </a:p>
          <a:p>
            <a:r>
              <a:rPr lang="zh-TW" altLang="en-US" sz="2200" dirty="0"/>
              <a:t>                      </a:t>
            </a:r>
            <a:r>
              <a:rPr lang="en-US" altLang="zh-TW" sz="2200" dirty="0"/>
              <a:t>(2)</a:t>
            </a:r>
            <a:r>
              <a:rPr lang="zh-TW" altLang="en-US" sz="2200" dirty="0"/>
              <a:t>有用</a:t>
            </a:r>
            <a:r>
              <a:rPr lang="en-US" altLang="zh-TW" sz="2200" dirty="0"/>
              <a:t>-&gt;</a:t>
            </a:r>
            <a:r>
              <a:rPr lang="zh-TW" altLang="en-US" sz="2200" dirty="0"/>
              <a:t>輸出答案</a:t>
            </a:r>
            <a:endParaRPr lang="en-US" altLang="zh-TW" sz="22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5049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211</Words>
  <Application>Microsoft Office PowerPoint</Application>
  <PresentationFormat>寬螢幕</PresentationFormat>
  <Paragraphs>33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-apple-system</vt:lpstr>
      <vt:lpstr>Aptos</vt:lpstr>
      <vt:lpstr>Aptos Display</vt:lpstr>
      <vt:lpstr>Arial</vt:lpstr>
      <vt:lpstr>Consolas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direct059</dc:creator>
  <cp:lastModifiedBy>direct059</cp:lastModifiedBy>
  <cp:revision>2</cp:revision>
  <dcterms:created xsi:type="dcterms:W3CDTF">2024-10-23T15:42:28Z</dcterms:created>
  <dcterms:modified xsi:type="dcterms:W3CDTF">2024-10-23T18:09:26Z</dcterms:modified>
</cp:coreProperties>
</file>